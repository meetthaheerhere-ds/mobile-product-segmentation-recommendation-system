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70" r:id="rId11"/>
    <p:sldId id="265" r:id="rId12"/>
    <p:sldId id="266" r:id="rId13"/>
    <p:sldId id="267" r:id="rId14"/>
    <p:sldId id="268" r:id="rId15"/>
    <p:sldId id="269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159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White">
          <a:xfrm>
            <a:off x="1102240" y="2386744"/>
            <a:ext cx="6939520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 algn="ctr">
              <a:defRPr sz="35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021396" y="4352544"/>
            <a:ext cx="5101209" cy="1239894"/>
          </a:xfrm>
          <a:noFill/>
        </p:spPr>
        <p:txBody>
          <a:bodyPr>
            <a:normAutofit/>
          </a:bodyPr>
          <a:lstStyle>
            <a:lvl1pPr marL="0" indent="0" algn="ctr">
              <a:buNone/>
              <a:defRPr sz="19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19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5078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174313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1106424" y="2386744"/>
            <a:ext cx="6940296" cy="1645920"/>
          </a:xfrm>
          <a:solidFill>
            <a:srgbClr val="FFFFFF"/>
          </a:solidFill>
          <a:ln w="38100">
            <a:solidFill>
              <a:srgbClr val="404040"/>
            </a:solidFill>
          </a:ln>
        </p:spPr>
        <p:txBody>
          <a:bodyPr lIns="274320" rIns="274320" anchor="ctr" anchorCtr="1">
            <a:normAutofit/>
          </a:bodyPr>
          <a:lstStyle>
            <a:lvl1pPr>
              <a:defRPr sz="35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21396" y="4352465"/>
            <a:ext cx="5101209" cy="1265082"/>
          </a:xfrm>
        </p:spPr>
        <p:txBody>
          <a:bodyPr anchor="t" anchorCtr="1">
            <a:normAutofit/>
          </a:bodyPr>
          <a:lstStyle>
            <a:lvl1pPr marL="0" indent="0">
              <a:buNone/>
              <a:defRPr sz="1900">
                <a:solidFill>
                  <a:schemeClr val="tx1"/>
                </a:solidFill>
              </a:defRPr>
            </a:lvl1pPr>
            <a:lvl2pPr marL="457200" indent="0">
              <a:buNone/>
              <a:defRPr sz="19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92348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2239" y="2638044"/>
            <a:ext cx="3288023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53737" y="2638044"/>
            <a:ext cx="3290516" cy="310198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540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2239" y="2313434"/>
            <a:ext cx="3288024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2239" y="3143250"/>
            <a:ext cx="3288024" cy="259677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737" y="3143250"/>
            <a:ext cx="3290516" cy="2596776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4753737" y="2313434"/>
            <a:ext cx="3290516" cy="704087"/>
          </a:xfrm>
        </p:spPr>
        <p:txBody>
          <a:bodyPr anchor="b" anchorCtr="1">
            <a:normAutofit/>
          </a:bodyPr>
          <a:lstStyle>
            <a:lvl1pPr marL="0" indent="0" algn="ctr">
              <a:buNone/>
              <a:defRPr sz="1900" b="0" cap="all" spc="100" baseline="0">
                <a:solidFill>
                  <a:schemeClr val="accent2">
                    <a:lumMod val="75000"/>
                  </a:schemeClr>
                </a:solidFill>
              </a:defRPr>
            </a:lvl1pPr>
            <a:lvl2pPr marL="457200" indent="0">
              <a:buNone/>
              <a:defRPr sz="19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9773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232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99256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 25"/>
          <p:cNvSpPr/>
          <p:nvPr/>
        </p:nvSpPr>
        <p:spPr>
          <a:xfrm>
            <a:off x="0" y="0"/>
            <a:ext cx="4572000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703" y="2243829"/>
            <a:ext cx="3290594" cy="1141497"/>
          </a:xfrm>
          <a:solidFill>
            <a:srgbClr val="FFFFFF"/>
          </a:solidFill>
          <a:ln>
            <a:solidFill>
              <a:srgbClr val="404040"/>
            </a:solidFill>
          </a:ln>
        </p:spPr>
        <p:txBody>
          <a:bodyPr anchor="ctr" anchorCtr="1">
            <a:norm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52060" y="804672"/>
            <a:ext cx="3611880" cy="5248656"/>
          </a:xfrm>
        </p:spPr>
        <p:txBody>
          <a:bodyPr>
            <a:normAutofit/>
          </a:bodyPr>
          <a:lstStyle>
            <a:lvl1pPr>
              <a:defRPr sz="1900">
                <a:solidFill>
                  <a:schemeClr val="tx1"/>
                </a:solidFill>
              </a:defRPr>
            </a:lvl1pPr>
            <a:lvl2pPr>
              <a:defRPr sz="1600">
                <a:solidFill>
                  <a:schemeClr val="tx1"/>
                </a:solidFill>
              </a:defRPr>
            </a:lvl2pPr>
            <a:lvl3pPr>
              <a:defRPr sz="1600">
                <a:solidFill>
                  <a:schemeClr val="tx1"/>
                </a:solidFill>
              </a:defRPr>
            </a:lvl3pPr>
            <a:lvl4pPr>
              <a:defRPr sz="1600">
                <a:solidFill>
                  <a:schemeClr val="tx1"/>
                </a:solidFill>
              </a:defRPr>
            </a:lvl4pPr>
            <a:lvl5pPr>
              <a:defRPr sz="1600">
                <a:solidFill>
                  <a:schemeClr val="tx1"/>
                </a:solidFill>
              </a:defRPr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8"/>
            <a:ext cx="2846070" cy="2194036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>
          <a:xfrm>
            <a:off x="640703" y="6236208"/>
            <a:ext cx="3806398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1547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/>
          <p:cNvSpPr/>
          <p:nvPr/>
        </p:nvSpPr>
        <p:spPr>
          <a:xfrm>
            <a:off x="1" y="0"/>
            <a:ext cx="4571999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White">
          <a:xfrm>
            <a:off x="640080" y="2243828"/>
            <a:ext cx="3291840" cy="1143000"/>
          </a:xfrm>
          <a:solidFill>
            <a:srgbClr val="FFFFFF"/>
          </a:solidFill>
          <a:ln>
            <a:solidFill>
              <a:srgbClr val="262626"/>
            </a:solidFill>
          </a:ln>
        </p:spPr>
        <p:txBody>
          <a:bodyPr anchor="ctr" anchorCtr="1">
            <a:noAutofit/>
          </a:bodyPr>
          <a:lstStyle>
            <a:lvl1pPr>
              <a:defRPr sz="2100">
                <a:solidFill>
                  <a:srgbClr val="262626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72000" y="-42172"/>
            <a:ext cx="4576573" cy="6858000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>
                <a:solidFill>
                  <a:schemeClr val="bg1">
                    <a:lumMod val="85000"/>
                    <a:lumOff val="15000"/>
                  </a:schemeClr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62965" y="3549919"/>
            <a:ext cx="2846070" cy="2194037"/>
          </a:xfrm>
        </p:spPr>
        <p:txBody>
          <a:bodyPr anchor="t" anchorCtr="1">
            <a:normAutofit/>
          </a:bodyPr>
          <a:lstStyle>
            <a:lvl1pPr marL="0" indent="0" algn="ctr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  <a:effectLst>
                  <a:outerShdw blurRad="50800" dist="38100" dir="2700000" algn="tl" rotWithShape="0">
                    <a:prstClr val="black">
                      <a:alpha val="43000"/>
                    </a:prstClr>
                  </a:outerShdw>
                </a:effectLst>
              </a:defRPr>
            </a:lvl1pPr>
          </a:lstStyle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640080" y="6236208"/>
            <a:ext cx="3803904" cy="320040"/>
          </a:xfrm>
        </p:spPr>
        <p:txBody>
          <a:bodyPr>
            <a:normAutofit/>
          </a:bodyPr>
          <a:lstStyle>
            <a:lvl1pPr>
              <a:defRPr>
                <a:solidFill>
                  <a:srgbClr val="FFFFFF">
                    <a:alpha val="70000"/>
                  </a:srgbClr>
                </a:solidFill>
              </a:defRPr>
            </a:lvl1pPr>
          </a:lstStyle>
          <a:p>
            <a:endParaRPr lang="en-US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7842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83486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489834" y="937260"/>
            <a:ext cx="1053966" cy="4983480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06046" y="937260"/>
            <a:ext cx="4716174" cy="498348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5984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78943" y="6238816"/>
            <a:ext cx="2065310" cy="3239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02239" y="6236208"/>
            <a:ext cx="4556664" cy="3200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alpha val="7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240112" y="6217920"/>
            <a:ext cx="365760" cy="365760"/>
          </a:xfrm>
          <a:prstGeom prst="ellipse">
            <a:avLst/>
          </a:prstGeom>
          <a:solidFill>
            <a:srgbClr val="1D1D1D">
              <a:alpha val="69804"/>
            </a:srgbClr>
          </a:solidFill>
        </p:spPr>
        <p:txBody>
          <a:bodyPr vert="horz" lIns="18288" tIns="45720" rIns="18288" bIns="45720" rtlCol="0" anchor="ctr">
            <a:noAutofit/>
          </a:bodyPr>
          <a:lstStyle>
            <a:lvl1pPr algn="ctr">
              <a:defRPr sz="1100" spc="0" baseline="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0765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all" spc="200" baseline="0">
          <a:solidFill>
            <a:srgbClr val="262626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t>📱 Mobile Product Segmentation &amp; Recommendation System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 fontScale="92500" lnSpcReduction="10000"/>
          </a:bodyPr>
          <a:lstStyle/>
          <a:p>
            <a:pPr>
              <a:defRPr sz="2200"/>
            </a:pPr>
            <a:r>
              <a:t>Mini Project Presentation</a:t>
            </a:r>
            <a:br/>
            <a:br/>
            <a:r>
              <a:t>Presented By: Thaheer</a:t>
            </a:r>
            <a:br/>
            <a:r>
              <a:t>Course: Data Science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📌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Thousands of smartphones are available.</a:t>
            </a:r>
            <a:br/>
            <a:r>
              <a:t>• Customers struggle to choose.</a:t>
            </a:r>
            <a:br/>
            <a:r>
              <a:t>• Businesses need segmentation &amp; recommendation.</a:t>
            </a:r>
            <a:br/>
            <a:r>
              <a:t>• Manual analysis is inefficient.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🎯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• Data Preprocessing</a:t>
            </a:r>
            <a:br/>
            <a:r>
              <a:t>• EDA</a:t>
            </a:r>
            <a:br/>
            <a:r>
              <a:t>• K-Means Clustering</a:t>
            </a:r>
            <a:br/>
            <a:r>
              <a:t>• KNN Recommendation System</a:t>
            </a:r>
            <a:br/>
            <a:r>
              <a:t>• Streamlit Dashboard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🛠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Python</a:t>
            </a:r>
            <a:br/>
            <a:r>
              <a:t>Pandas</a:t>
            </a:r>
            <a:br/>
            <a:r>
              <a:t>NumPy</a:t>
            </a:r>
            <a:br/>
            <a:r>
              <a:t>Scikit-learn</a:t>
            </a:r>
            <a:br/>
            <a:r>
              <a:t>Matplotlib</a:t>
            </a:r>
            <a:br/>
            <a:r>
              <a:t>Seaborn</a:t>
            </a:r>
            <a:br/>
            <a:r>
              <a:t>Streamlit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📂 Dataset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Brand, Model, Price, Rating, Battery, Camera, Performance, Design, Display, </a:t>
            </a:r>
            <a:r>
              <a:rPr lang="en-IN" dirty="0"/>
              <a:t>Customer </a:t>
            </a:r>
            <a:r>
              <a:rPr dirty="0"/>
              <a:t>Sentiment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🧹 Data Preprocessing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Missing values</a:t>
            </a:r>
            <a:br/>
            <a:r>
              <a:t>Duplicate removal</a:t>
            </a:r>
            <a:br/>
            <a:r>
              <a:t>Feature selection</a:t>
            </a:r>
            <a:br/>
            <a:r>
              <a:t>Scaling</a:t>
            </a:r>
            <a:br/>
            <a:r>
              <a:t>Cleaning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📊 EDA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Brand Distribution</a:t>
            </a:r>
            <a:br/>
            <a:r>
              <a:t>Sentiment Distribution</a:t>
            </a:r>
            <a:br/>
            <a:r>
              <a:t>Price Distribution</a:t>
            </a:r>
            <a:br/>
            <a:r>
              <a:t>Price vs Rating</a:t>
            </a:r>
            <a:br/>
            <a:r>
              <a:t>Correlation Heatmap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🤖 K-Means Clustering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lang="en-IN" dirty="0"/>
              <a:t>Products were segmented into </a:t>
            </a:r>
            <a:r>
              <a:rPr dirty="0"/>
              <a:t>3 Clusters:</a:t>
            </a:r>
            <a:br>
              <a:rPr dirty="0"/>
            </a:br>
            <a:r>
              <a:rPr dirty="0"/>
              <a:t>Cluster 0 - Average Performance</a:t>
            </a:r>
            <a:br>
              <a:rPr dirty="0"/>
            </a:br>
            <a:r>
              <a:rPr dirty="0"/>
              <a:t>Cluster 1 - High Performance</a:t>
            </a:r>
            <a:br>
              <a:rPr dirty="0"/>
            </a:br>
            <a:r>
              <a:rPr dirty="0"/>
              <a:t>Cluster 2 - Low Performance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📱 KNN Recommendation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Inputs: Brand, Price Range, Minimum Rating</a:t>
            </a:r>
            <a:br/>
            <a:r>
              <a:t>Output: Top 5 similar mobiles using KNN.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90E4BC-151C-6253-AE51-8F147C16B4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37652"/>
            <a:ext cx="8229600" cy="1279986"/>
          </a:xfrm>
        </p:spPr>
        <p:txBody>
          <a:bodyPr>
            <a:normAutofit/>
          </a:bodyPr>
          <a:lstStyle/>
          <a:p>
            <a:r>
              <a:rPr lang="en-IN" dirty="0"/>
              <a:t>Recommendation System</a:t>
            </a:r>
            <a:br>
              <a:rPr lang="en-IN" dirty="0"/>
            </a:b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13FE9-D3B3-9010-9065-14C2A628CE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Cosine Similarity was used to recommend similar smartphones based on: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• Ratings</a:t>
            </a:r>
            <a:br>
              <a:rPr lang="en-US" dirty="0"/>
            </a:br>
            <a:r>
              <a:rPr lang="en-US" dirty="0"/>
              <a:t>• Battery Performance</a:t>
            </a:r>
            <a:br>
              <a:rPr lang="en-US" dirty="0"/>
            </a:br>
            <a:r>
              <a:rPr lang="en-US" dirty="0"/>
              <a:t>• Camera Quality</a:t>
            </a:r>
            <a:br>
              <a:rPr lang="en-US" dirty="0"/>
            </a:br>
            <a:r>
              <a:rPr lang="en-US" dirty="0"/>
              <a:t>• Design Ratings</a:t>
            </a:r>
            <a:br>
              <a:rPr lang="en-US" dirty="0"/>
            </a:br>
            <a:r>
              <a:rPr lang="en-US" dirty="0"/>
              <a:t>• Display Ratings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781391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🖥 Streamlit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Dataset Preview</a:t>
            </a:r>
            <a:br/>
            <a:r>
              <a:t>EDA</a:t>
            </a:r>
            <a:br/>
            <a:r>
              <a:t>Cluster Comparison</a:t>
            </a:r>
            <a:br/>
            <a:r>
              <a:t>Cluster Explorer</a:t>
            </a:r>
            <a:br/>
            <a:r>
              <a:t>Recommendation System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📈 Key Insights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Premium phones tend to score higher.</a:t>
            </a:r>
            <a:br/>
            <a:r>
              <a:t>KNN recommends similar products.</a:t>
            </a:r>
            <a:br/>
            <a:r>
              <a:t>Clustering identifies market segments.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🎯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rPr dirty="0"/>
              <a:t>End-to-end ML workflow with interactive dashboard.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56279B-85D9-1F01-30FE-0D90AABD7F33}"/>
              </a:ext>
            </a:extLst>
          </p:cNvPr>
          <p:cNvSpPr txBox="1"/>
          <p:nvPr/>
        </p:nvSpPr>
        <p:spPr>
          <a:xfrm>
            <a:off x="806245" y="3844413"/>
            <a:ext cx="7433187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282828"/>
                </a:solidFill>
              </a:defRPr>
            </a:pPr>
            <a:r>
              <a:rPr lang="en-US" dirty="0"/>
              <a:t>Successfully developed a machine learning-based mobile product segmentation and recommendation system using Python and </a:t>
            </a:r>
            <a:r>
              <a:rPr lang="en-US" dirty="0" err="1"/>
              <a:t>Streamlit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The project demonstrated:</a:t>
            </a:r>
            <a:br>
              <a:rPr lang="en-US" dirty="0"/>
            </a:br>
            <a:r>
              <a:rPr lang="en-US" dirty="0"/>
              <a:t>• Data preprocessing</a:t>
            </a:r>
            <a:br>
              <a:rPr lang="en-US" dirty="0"/>
            </a:br>
            <a:r>
              <a:rPr lang="en-US" dirty="0"/>
              <a:t>• Clustering</a:t>
            </a:r>
            <a:br>
              <a:rPr lang="en-US" dirty="0"/>
            </a:br>
            <a:r>
              <a:rPr lang="en-US" dirty="0"/>
              <a:t>• Recommendation systems</a:t>
            </a:r>
            <a:br>
              <a:rPr lang="en-US" dirty="0"/>
            </a:br>
            <a:r>
              <a:rPr lang="en-US" dirty="0"/>
              <a:t>• Interactive dashboard development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🚀 Future Enhancements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200"/>
            </a:pPr>
            <a:r>
              <a:t>Hybrid recommender</a:t>
            </a:r>
            <a:br/>
            <a:r>
              <a:t>SQL Integration</a:t>
            </a:r>
            <a:br/>
            <a:r>
              <a:t>NLP</a:t>
            </a:r>
            <a:br/>
            <a:r>
              <a:t>Cloud Deployment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68625" y="452284"/>
            <a:ext cx="5937755" cy="875071"/>
          </a:xfrm>
        </p:spPr>
        <p:txBody>
          <a:bodyPr/>
          <a:lstStyle/>
          <a:p>
            <a:r>
              <a:rPr dirty="0"/>
              <a:t>🙏 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4684" y="1600200"/>
            <a:ext cx="8229600" cy="4525963"/>
          </a:xfrm>
        </p:spPr>
        <p:txBody>
          <a:bodyPr/>
          <a:lstStyle/>
          <a:p>
            <a:pPr>
              <a:defRPr sz="2200"/>
            </a:pPr>
            <a:r>
              <a:rPr lang="en-US" sz="2400" dirty="0"/>
              <a:t>Thank You for this Opportunity!</a:t>
            </a:r>
          </a:p>
          <a:p>
            <a:pPr>
              <a:defRPr sz="2200"/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arcel">
  <a:themeElements>
    <a:clrScheme name="Parcel">
      <a:dk1>
        <a:srgbClr val="000000"/>
      </a:dk1>
      <a:lt1>
        <a:srgbClr val="FFFFFF"/>
      </a:lt1>
      <a:dk2>
        <a:srgbClr val="4A5356"/>
      </a:dk2>
      <a:lt2>
        <a:srgbClr val="E8E3CE"/>
      </a:lt2>
      <a:accent1>
        <a:srgbClr val="F6A21D"/>
      </a:accent1>
      <a:accent2>
        <a:srgbClr val="9BAFB5"/>
      </a:accent2>
      <a:accent3>
        <a:srgbClr val="C96731"/>
      </a:accent3>
      <a:accent4>
        <a:srgbClr val="9CA383"/>
      </a:accent4>
      <a:accent5>
        <a:srgbClr val="87795D"/>
      </a:accent5>
      <a:accent6>
        <a:srgbClr val="A0988C"/>
      </a:accent6>
      <a:hlink>
        <a:srgbClr val="00B0F0"/>
      </a:hlink>
      <a:folHlink>
        <a:srgbClr val="738F97"/>
      </a:folHlink>
    </a:clrScheme>
    <a:fontScheme name="Parcel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arcel" id="{8BEC4385-4EB9-4D53-BFB5-0EA123736B6D}" vid="{4DB32801-28C0-48B0-8C1D-A9A58613615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TM10001115[[fn=Parcel]]</Template>
  <TotalTime>12</TotalTime>
  <Words>334</Words>
  <Application>Microsoft Office PowerPoint</Application>
  <PresentationFormat>On-screen Show (4:3)</PresentationFormat>
  <Paragraphs>31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Gill Sans MT</vt:lpstr>
      <vt:lpstr>Parcel</vt:lpstr>
      <vt:lpstr>📱 Mobile Product Segmentation &amp; Recommendation System</vt:lpstr>
      <vt:lpstr>📌 Problem Statement</vt:lpstr>
      <vt:lpstr>🎯 Objectives</vt:lpstr>
      <vt:lpstr>🛠 Technologies</vt:lpstr>
      <vt:lpstr>📂 Dataset</vt:lpstr>
      <vt:lpstr>🧹 Data Preprocessing</vt:lpstr>
      <vt:lpstr>📊 EDA</vt:lpstr>
      <vt:lpstr>🤖 K-Means Clustering</vt:lpstr>
      <vt:lpstr>📱 KNN Recommendation</vt:lpstr>
      <vt:lpstr>Recommendation System </vt:lpstr>
      <vt:lpstr>🖥 Streamlit Dashboard</vt:lpstr>
      <vt:lpstr>📈 Key Insights</vt:lpstr>
      <vt:lpstr>🎯 Outcome</vt:lpstr>
      <vt:lpstr>🚀 Future Enhancements</vt:lpstr>
      <vt:lpstr>🙏 Thank You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Thaheer A</cp:lastModifiedBy>
  <cp:revision>11</cp:revision>
  <dcterms:created xsi:type="dcterms:W3CDTF">2013-01-27T09:14:16Z</dcterms:created>
  <dcterms:modified xsi:type="dcterms:W3CDTF">2026-07-08T10:40:58Z</dcterms:modified>
  <cp:category/>
</cp:coreProperties>
</file>